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Densidad</c:v>
                </c:pt>
              </c:strCache>
            </c:strRef>
          </c:tx>
          <c:spPr>
            <a:solidFill>
              <a:srgbClr val="3A3A3A">
                <a:alpha val="4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-3.5</c:v>
                  </c:pt>
                  <c:pt idx="1">
                    <c:v>-3.0</c:v>
                  </c:pt>
                  <c:pt idx="2">
                    <c:v>-2.5</c:v>
                  </c:pt>
                  <c:pt idx="3">
                    <c:v>-2.0</c:v>
                  </c:pt>
                  <c:pt idx="4">
                    <c:v>-1.5</c:v>
                  </c:pt>
                  <c:pt idx="5">
                    <c:v>-1.0</c:v>
                  </c:pt>
                  <c:pt idx="6">
                    <c:v>-0.5</c:v>
                  </c:pt>
                  <c:pt idx="7">
                    <c:v>0.0</c:v>
                  </c:pt>
                  <c:pt idx="8">
                    <c:v>0.5</c:v>
                  </c:pt>
                  <c:pt idx="9">
                    <c:v>1.0</c:v>
                  </c:pt>
                  <c:pt idx="10">
                    <c:v>1.5</c:v>
                  </c:pt>
                  <c:pt idx="11">
                    <c:v>2.0</c:v>
                  </c:pt>
                  <c:pt idx="12">
                    <c:v>2.5</c:v>
                  </c:pt>
                  <c:pt idx="13">
                    <c:v>3.0</c:v>
                  </c:pt>
                  <c:pt idx="14">
                    <c:v>3.5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0.0009</c:v>
                </c:pt>
                <c:pt idx="1">
                  <c:v>0.0044</c:v>
                </c:pt>
                <c:pt idx="2">
                  <c:v>0.0175</c:v>
                </c:pt>
                <c:pt idx="3">
                  <c:v>0.054</c:v>
                </c:pt>
                <c:pt idx="4">
                  <c:v>0.1295</c:v>
                </c:pt>
                <c:pt idx="5">
                  <c:v>0.242</c:v>
                </c:pt>
                <c:pt idx="6">
                  <c:v>0.3521</c:v>
                </c:pt>
                <c:pt idx="7">
                  <c:v>0.3989</c:v>
                </c:pt>
                <c:pt idx="8">
                  <c:v>0.3521</c:v>
                </c:pt>
                <c:pt idx="9">
                  <c:v>0.242</c:v>
                </c:pt>
                <c:pt idx="10">
                  <c:v>0.1295</c:v>
                </c:pt>
                <c:pt idx="11">
                  <c:v>0.054</c:v>
                </c:pt>
                <c:pt idx="12">
                  <c:v>0.0175</c:v>
                </c:pt>
                <c:pt idx="13">
                  <c:v>0.0044</c:v>
                </c:pt>
                <c:pt idx="14">
                  <c:v>0.0009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0808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08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488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Puntuación típica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063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z-score: cómo comparar datos en una escala común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68680" y="3794760"/>
            <a:ext cx="292608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4023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08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  =  ( x − x̄ ) / s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la puntuación típica?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 cuántas desviaciones típicas se aleja un dato individual respecto a la media, situándolo en una escala común que permite comparar variables de distinta naturaleza.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685800" cy="6858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331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22860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 = 0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228600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dato coincide con la media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081528"/>
            <a:ext cx="1106424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291840"/>
            <a:ext cx="685800" cy="6858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291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32461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 &gt; 0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200400" y="324612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dato está por encima de la media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041648"/>
            <a:ext cx="1106424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251960"/>
            <a:ext cx="685800" cy="6858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251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42062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 &lt; 0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200400" y="42062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dato está por debajo de la media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5001768"/>
            <a:ext cx="1106424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5212080"/>
            <a:ext cx="685800" cy="6858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212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516636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|z| &gt; 2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3200400" y="516636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dato es poco frecuente (atípico)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Puntuación típica (z-score)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Fórmula y propiedades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029200" cy="2011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z_i = ( x_i − x̄ ) / 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468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x_i: dato  ·  x̄: media  ·  s: desviación típica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13716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Propiedades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1783080"/>
            <a:ext cx="5669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media de las puntuaciones típicas es siempre 0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desviación típica de las puntuaciones típicas es siempre 1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adimensionales: no tienen unidades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transformación es lineal y conserva la forma de la distribución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03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 empírica (68-95-99.7)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60520"/>
          <a:ext cx="11064240" cy="173736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Rango de 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de datos aprox.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1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2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3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99.7 %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Puntuación típica (z-score)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 práctico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Edades de un grupo — media x̄ = 17,  desviación s = 2.76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4206240"/>
        </p:xfrm>
        <a:graphic>
          <a:graphicData uri="http://schemas.openxmlformats.org/drawingml/2006/table">
            <a:tbl>
              <a:tblPr/>
              <a:tblGrid>
                <a:gridCol w="2766060"/>
                <a:gridCol w="2766060"/>
                <a:gridCol w="2766060"/>
                <a:gridCol w="2766060"/>
              </a:tblGrid>
              <a:tr h="701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Edad (x)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− x̄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debajo de la media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Ligeramente por debajo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Ligeramente por encima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encima de la media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más alejado (aún típico)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Puntuación típica (z-score)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curva normal estándar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Densidad en función de z  (media = 0, desviación típica = 1)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76809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549640" y="1920240"/>
            <a:ext cx="502920" cy="5029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496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9189720" y="189280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 1 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549640" y="2468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 de los datos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549640" y="3154680"/>
            <a:ext cx="502920" cy="5029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54964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9189720" y="312724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 2 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549640" y="3703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de los datos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549640" y="4389120"/>
            <a:ext cx="502920" cy="5029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54964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89720" y="436168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 3 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549640" y="4937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99.7% de los datos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Puntuación típica (z-score)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801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puntuación típica convierte cualquier dato en un valor comparable dentro de una escala universal (media 0, desviación típica 1).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226771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estandarizadas (CI, PISA, SAT)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063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304495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valores atípicos (|z| &gt; 3)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84048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82219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de variables en distinta escala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6177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617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459943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calidad y finanzas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2026-09-28T21:09:14Z</dcterms:created>
  <dcterms:modified xsi:type="dcterms:W3CDTF">2026-09-28T21:09:14Z</dcterms:modified>
</cp:coreProperties>
</file>